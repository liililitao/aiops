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A7B2A-E47F-DFF9-E57F-AD9C03D49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0513E1-E552-5C6B-F3FD-BEBFE44F7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22D8FF-AE26-A87B-0C14-1F270576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5053F8-39C5-AD63-516B-ECE91FE7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47B67-14D8-9072-2944-1923C626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8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EE683-FF47-E73F-2168-8CD718EE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83CE31-B45B-2BEF-36C2-222A119F9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BF8ACF-7E37-A423-7090-5032CF4A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9414B1-F818-83F6-6F87-59E0C3F3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29FBF-1C67-3368-16FB-AE75535C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0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FB509-15D0-4F18-B167-69612284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C9CBD9-5AF3-53EC-EBA1-887EFC159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3FA8D5-59FE-FC16-4D33-CEA4D6AF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2CA6F0-FC3B-2BBA-D5F5-D87B48E8F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D819B-329A-968D-A37D-DEC958E7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8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FEADE-216E-45DC-02CF-E0BD7038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CFF568-0AEA-F555-D2EF-06BE6CB78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0E347E-FC63-A70A-9A1B-4266B4019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AEC7B5-4CCC-CFA2-F876-A1B84723F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6224B2-7059-A470-83E3-CC9B09857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171CE4-4EF6-CE83-13E8-D591D3AC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131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4DF3E-02F3-706C-6787-3E1B780F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01C687-D2C8-1568-30E8-DE0A82FD8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4E22FC-94C3-387D-B9F4-A42D141A7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F83CC3-3E22-D3F8-8F81-ED273CECD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D3736B-7FD4-118F-A345-BA816FC40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1666CE-D183-EB35-2C71-F42B0991C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547507-AAE7-5E57-B83E-906A4FEF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AD1B5D3-EB93-4481-7BB0-17D837C5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7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E974E-8749-3DBD-E073-2094CD5A7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86802E-D596-D541-F45C-91329A88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0CC05D-78C9-11EB-74B3-29728140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6D21C7-9DB8-9C71-6B29-23336CD2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5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EBCBC0-CC2A-DE55-ED6A-617EBF90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119700-2803-E4EB-E873-66EA3CECD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8CCD92-131E-977B-D625-7BA11297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3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D6E71-918C-C971-6978-8D9517F9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AEE742-B6E2-C376-0694-BF34FD63E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216E2A-706E-359B-37A5-4FCEA34A1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6ED7A1-F245-4821-F25A-C1131D32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F3FBCF-4EBF-888A-E67F-BC3D2284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01024-6253-0EE1-2476-F48448A9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00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33183-BF20-1672-CCA4-233D9AC2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65D6B2-1E94-F19D-30B5-170357DD2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798223-BFE9-D4B6-4E06-59B032389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088E46-4D94-1C0D-AD15-8619095D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C5CC37-16EB-7080-8019-CE4EEC6F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7F8E40-A8E5-1BE5-4544-37357E56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18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14DD5-A526-B70F-060E-ED4C8062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FA0291-ED91-74F7-5874-76D7886E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DCE531-7DE9-6BD9-02C2-E0E4565D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4DC2E3-366B-4CE9-07D8-77C10511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89697E-A761-3BE3-98A4-757E72EDA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4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5176CB-5B31-4958-4D96-D4FD8CBA3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1B4486-3BC4-6A27-960E-050BFB965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79B8CF-5A4F-D1C4-3403-077552065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68230-61A4-4C14-B471-7DF815D7C08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D82F5-E458-3320-7025-DDD6CD90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F3A203-8A99-4A44-579E-1212BF2C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7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944F55-C64A-BEE6-FF50-FACF1D5C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A54D18-3EC3-168E-2BC6-0E27F03CB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9C26E-80D1-D2A2-EC31-CC07A2192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68230-61A4-4C14-B471-7DF815D7C08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10817A-4187-63EB-48F4-857138DE3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D7978-1569-4A17-76D5-9158A669D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380B1-DC8B-40B3-A578-F0D9DA8D0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E2C95A0-AD2B-E249-81C8-A125BAF8B8FE}"/>
              </a:ext>
            </a:extLst>
          </p:cNvPr>
          <p:cNvSpPr/>
          <p:nvPr/>
        </p:nvSpPr>
        <p:spPr>
          <a:xfrm>
            <a:off x="129309" y="83126"/>
            <a:ext cx="11924145" cy="8220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数据接入层</a:t>
            </a:r>
            <a:endParaRPr lang="en-US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74BDD63-935F-3961-F4EE-AD1752777123}"/>
              </a:ext>
            </a:extLst>
          </p:cNvPr>
          <p:cNvSpPr/>
          <p:nvPr/>
        </p:nvSpPr>
        <p:spPr>
          <a:xfrm>
            <a:off x="1953495" y="367141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告警数据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879AAB1-FFED-A243-6D92-40231CAC7E29}"/>
              </a:ext>
            </a:extLst>
          </p:cNvPr>
          <p:cNvSpPr/>
          <p:nvPr/>
        </p:nvSpPr>
        <p:spPr>
          <a:xfrm>
            <a:off x="286326" y="367143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告警相关日志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F96A504-D398-665D-0915-A1222C0DD805}"/>
              </a:ext>
            </a:extLst>
          </p:cNvPr>
          <p:cNvSpPr/>
          <p:nvPr/>
        </p:nvSpPr>
        <p:spPr>
          <a:xfrm>
            <a:off x="3620664" y="367141"/>
            <a:ext cx="1510152" cy="47336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CMDB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关系数据库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52533FD-8935-1D7E-1F2A-894C3B7A85A8}"/>
              </a:ext>
            </a:extLst>
          </p:cNvPr>
          <p:cNvSpPr/>
          <p:nvPr/>
        </p:nvSpPr>
        <p:spPr>
          <a:xfrm>
            <a:off x="5336304" y="367141"/>
            <a:ext cx="1510152" cy="4733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运维手册等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向量数据库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372EC5-C7AE-CEA1-4BA4-ED14A6B90CA2}"/>
              </a:ext>
            </a:extLst>
          </p:cNvPr>
          <p:cNvSpPr/>
          <p:nvPr/>
        </p:nvSpPr>
        <p:spPr>
          <a:xfrm>
            <a:off x="3463647" y="983672"/>
            <a:ext cx="5228069" cy="658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数据同步管道层</a:t>
            </a:r>
            <a:endParaRPr lang="en-US" sz="14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7C67618-DD17-ADCC-EFC9-5A9320BE706F}"/>
              </a:ext>
            </a:extLst>
          </p:cNvPr>
          <p:cNvSpPr/>
          <p:nvPr/>
        </p:nvSpPr>
        <p:spPr>
          <a:xfrm>
            <a:off x="3706108" y="1268838"/>
            <a:ext cx="1510152" cy="2921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Flink 1.2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1FB9598-65E5-60FE-3D0C-FC3645F474AF}"/>
              </a:ext>
            </a:extLst>
          </p:cNvPr>
          <p:cNvSpPr/>
          <p:nvPr/>
        </p:nvSpPr>
        <p:spPr>
          <a:xfrm>
            <a:off x="5336304" y="1268838"/>
            <a:ext cx="1510152" cy="29210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Flink-CDC 3.6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FD373CB-44F2-5719-E31D-0BFFE800105C}"/>
              </a:ext>
            </a:extLst>
          </p:cNvPr>
          <p:cNvSpPr/>
          <p:nvPr/>
        </p:nvSpPr>
        <p:spPr>
          <a:xfrm>
            <a:off x="6966500" y="1268838"/>
            <a:ext cx="1510152" cy="29210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afka 4.3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47FA4F3-FCAB-5292-7A5D-38897B8077BA}"/>
              </a:ext>
            </a:extLst>
          </p:cNvPr>
          <p:cNvSpPr/>
          <p:nvPr/>
        </p:nvSpPr>
        <p:spPr>
          <a:xfrm>
            <a:off x="129309" y="1720495"/>
            <a:ext cx="11924145" cy="32447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zh-CN" sz="1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编排层</a:t>
            </a:r>
            <a:endParaRPr lang="en-US" sz="1400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6521C6-CAE7-2632-6FE5-461AF325D8AC}"/>
              </a:ext>
            </a:extLst>
          </p:cNvPr>
          <p:cNvSpPr/>
          <p:nvPr/>
        </p:nvSpPr>
        <p:spPr>
          <a:xfrm>
            <a:off x="129309" y="5089233"/>
            <a:ext cx="11924145" cy="868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前端输出展示层</a:t>
            </a:r>
            <a:endParaRPr lang="en-US" sz="14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0ECDCDE-E57D-5917-6B8C-E5BD2513203D}"/>
              </a:ext>
            </a:extLst>
          </p:cNvPr>
          <p:cNvSpPr/>
          <p:nvPr/>
        </p:nvSpPr>
        <p:spPr>
          <a:xfrm>
            <a:off x="286326" y="5400961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plunk </a:t>
            </a:r>
          </a:p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dashboard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ACEB569-FAE9-BC1B-DD1A-BE06A30FEF45}"/>
              </a:ext>
            </a:extLst>
          </p:cNvPr>
          <p:cNvSpPr/>
          <p:nvPr/>
        </p:nvSpPr>
        <p:spPr>
          <a:xfrm>
            <a:off x="1953495" y="5400960"/>
            <a:ext cx="1510152" cy="47336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综合展示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066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7A89C-16AB-D6A7-35B5-82615861A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2EB67FE-DA87-6C68-DD12-ACE9653BED78}"/>
              </a:ext>
            </a:extLst>
          </p:cNvPr>
          <p:cNvSpPr/>
          <p:nvPr/>
        </p:nvSpPr>
        <p:spPr>
          <a:xfrm>
            <a:off x="2987859" y="88568"/>
            <a:ext cx="3108140" cy="66437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预先判别层</a:t>
            </a:r>
            <a:r>
              <a:rPr lang="en-US" altLang="zh-CN" sz="1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</a:t>
            </a:r>
            <a:r>
              <a:rPr lang="en-US" altLang="zh-CN" sz="1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token)</a:t>
            </a:r>
            <a:endParaRPr lang="en-US" sz="14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3CDB64-3851-D5DC-3C9A-00C51451BE28}"/>
              </a:ext>
            </a:extLst>
          </p:cNvPr>
          <p:cNvSpPr/>
          <p:nvPr/>
        </p:nvSpPr>
        <p:spPr>
          <a:xfrm>
            <a:off x="10392308" y="88489"/>
            <a:ext cx="1752560" cy="66448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前端输出展示层</a:t>
            </a:r>
            <a:endParaRPr lang="en-US" sz="14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038550-D20A-E6E8-B482-94123D4D267D}"/>
              </a:ext>
            </a:extLst>
          </p:cNvPr>
          <p:cNvSpPr/>
          <p:nvPr/>
        </p:nvSpPr>
        <p:spPr>
          <a:xfrm>
            <a:off x="73895" y="88490"/>
            <a:ext cx="2850073" cy="66448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数据接入层</a:t>
            </a:r>
            <a:endParaRPr lang="en-US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6E2DAF-081C-41CF-3D3F-6EC294995DE2}"/>
              </a:ext>
            </a:extLst>
          </p:cNvPr>
          <p:cNvSpPr/>
          <p:nvPr/>
        </p:nvSpPr>
        <p:spPr>
          <a:xfrm>
            <a:off x="8505489" y="88489"/>
            <a:ext cx="1804027" cy="66437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zh-CN" sz="1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编排层</a:t>
            </a:r>
            <a:endParaRPr lang="en-US" sz="1400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71DB837-1BA5-4C31-D95F-A49F2F18D15B}"/>
              </a:ext>
            </a:extLst>
          </p:cNvPr>
          <p:cNvSpPr/>
          <p:nvPr/>
        </p:nvSpPr>
        <p:spPr>
          <a:xfrm>
            <a:off x="1298343" y="1339205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告警相关日志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880A747-546B-66E2-264D-EC8CF1FCEB62}"/>
              </a:ext>
            </a:extLst>
          </p:cNvPr>
          <p:cNvSpPr/>
          <p:nvPr/>
        </p:nvSpPr>
        <p:spPr>
          <a:xfrm>
            <a:off x="1293420" y="2532056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告警相关数据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4D415A-C47C-801A-A316-20DD397B466A}"/>
              </a:ext>
            </a:extLst>
          </p:cNvPr>
          <p:cNvSpPr txBox="1"/>
          <p:nvPr/>
        </p:nvSpPr>
        <p:spPr>
          <a:xfrm>
            <a:off x="47132" y="1314278"/>
            <a:ext cx="1261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监控持续监控日志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A41459-A122-72FD-C216-BB26F75998D3}"/>
              </a:ext>
            </a:extLst>
          </p:cNvPr>
          <p:cNvSpPr txBox="1"/>
          <p:nvPr/>
        </p:nvSpPr>
        <p:spPr>
          <a:xfrm>
            <a:off x="0" y="1802982"/>
            <a:ext cx="20422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日志触发告警规则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告警规则执行脚本操作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B956D62-0A1D-0EFD-174F-B1F89C05CB18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2048496" y="1812572"/>
            <a:ext cx="4923" cy="71948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A406DA7-6ACE-C06E-D4AA-9828E6BB5A82}"/>
              </a:ext>
            </a:extLst>
          </p:cNvPr>
          <p:cNvSpPr/>
          <p:nvPr/>
        </p:nvSpPr>
        <p:spPr>
          <a:xfrm>
            <a:off x="1287147" y="3804600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CMDB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关系数据库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8873D9F-53A1-8835-1F86-730A2166B32D}"/>
              </a:ext>
            </a:extLst>
          </p:cNvPr>
          <p:cNvSpPr/>
          <p:nvPr/>
        </p:nvSpPr>
        <p:spPr>
          <a:xfrm>
            <a:off x="1281696" y="4412127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运维手册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向量数据库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133A5F0-7557-74E8-40C3-DD120D59418A}"/>
              </a:ext>
            </a:extLst>
          </p:cNvPr>
          <p:cNvSpPr/>
          <p:nvPr/>
        </p:nvSpPr>
        <p:spPr>
          <a:xfrm>
            <a:off x="10537106" y="2540091"/>
            <a:ext cx="1510152" cy="47336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Splunk dashboard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C1CF42D8-17BD-6353-4C4C-ACCAFF03805F}"/>
              </a:ext>
            </a:extLst>
          </p:cNvPr>
          <p:cNvSpPr/>
          <p:nvPr/>
        </p:nvSpPr>
        <p:spPr>
          <a:xfrm>
            <a:off x="10537106" y="3339270"/>
            <a:ext cx="1510152" cy="473367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综合展示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3720F112-6357-4C5F-42EF-C30C9D80555F}"/>
              </a:ext>
            </a:extLst>
          </p:cNvPr>
          <p:cNvCxnSpPr>
            <a:stCxn id="11" idx="3"/>
            <a:endCxn id="49" idx="1"/>
          </p:cNvCxnSpPr>
          <p:nvPr/>
        </p:nvCxnSpPr>
        <p:spPr>
          <a:xfrm>
            <a:off x="10230136" y="2776775"/>
            <a:ext cx="30697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3C155DFC-98BD-0739-5C76-77DF91B719E6}"/>
              </a:ext>
            </a:extLst>
          </p:cNvPr>
          <p:cNvCxnSpPr>
            <a:stCxn id="41" idx="3"/>
            <a:endCxn id="51" idx="1"/>
          </p:cNvCxnSpPr>
          <p:nvPr/>
        </p:nvCxnSpPr>
        <p:spPr>
          <a:xfrm>
            <a:off x="10230136" y="3575953"/>
            <a:ext cx="306970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8B6824EE-47AD-0CE0-6CC3-3C3FE61A5775}"/>
              </a:ext>
            </a:extLst>
          </p:cNvPr>
          <p:cNvCxnSpPr>
            <a:stCxn id="11" idx="3"/>
            <a:endCxn id="51" idx="1"/>
          </p:cNvCxnSpPr>
          <p:nvPr/>
        </p:nvCxnSpPr>
        <p:spPr>
          <a:xfrm>
            <a:off x="10230136" y="2776775"/>
            <a:ext cx="306970" cy="79917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B8C5DA2-8B90-3B8A-C3C2-318BADC6AED3}"/>
              </a:ext>
            </a:extLst>
          </p:cNvPr>
          <p:cNvSpPr txBox="1"/>
          <p:nvPr/>
        </p:nvSpPr>
        <p:spPr>
          <a:xfrm>
            <a:off x="73443" y="2480090"/>
            <a:ext cx="11378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/data/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/bin/scripts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62355A-8F91-6550-8172-1D2FF9AED63F}"/>
              </a:ext>
            </a:extLst>
          </p:cNvPr>
          <p:cNvSpPr txBox="1"/>
          <p:nvPr/>
        </p:nvSpPr>
        <p:spPr>
          <a:xfrm>
            <a:off x="821364" y="873024"/>
            <a:ext cx="20630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n-NO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/data/splunk/var/test_log/waf_log_gen.csv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A5DB57D-A030-3097-F20A-D29F46220A78}"/>
              </a:ext>
            </a:extLst>
          </p:cNvPr>
          <p:cNvSpPr txBox="1"/>
          <p:nvPr/>
        </p:nvSpPr>
        <p:spPr>
          <a:xfrm>
            <a:off x="1407455" y="3003868"/>
            <a:ext cx="1240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不带风险标签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/data/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/var/log/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waf_alerts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551FCA4-3039-D3CA-50C1-DC63B0B4EC12}"/>
              </a:ext>
            </a:extLst>
          </p:cNvPr>
          <p:cNvSpPr txBox="1"/>
          <p:nvPr/>
        </p:nvSpPr>
        <p:spPr>
          <a:xfrm>
            <a:off x="63821" y="2975416"/>
            <a:ext cx="1240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带风险标签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nn-NO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/data/splunk/var/log/splunk/waflogalert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63DBF48-8456-93CF-20FA-4925629FFF52}"/>
              </a:ext>
            </a:extLst>
          </p:cNvPr>
          <p:cNvSpPr/>
          <p:nvPr/>
        </p:nvSpPr>
        <p:spPr>
          <a:xfrm>
            <a:off x="1303983" y="5706997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用户问题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A162F5D-36B1-707B-DE37-93E5C60AA158}"/>
              </a:ext>
            </a:extLst>
          </p:cNvPr>
          <p:cNvCxnSpPr>
            <a:cxnSpLocks/>
            <a:stCxn id="26" idx="3"/>
            <a:endCxn id="51" idx="1"/>
          </p:cNvCxnSpPr>
          <p:nvPr/>
        </p:nvCxnSpPr>
        <p:spPr>
          <a:xfrm flipV="1">
            <a:off x="10230136" y="3575954"/>
            <a:ext cx="306970" cy="79917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C4EA635-C693-2226-F5DE-06BF7509E0C6}"/>
              </a:ext>
            </a:extLst>
          </p:cNvPr>
          <p:cNvSpPr/>
          <p:nvPr/>
        </p:nvSpPr>
        <p:spPr>
          <a:xfrm>
            <a:off x="1293420" y="5077144"/>
            <a:ext cx="1510152" cy="4733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已确定告警数据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向量数据库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2E73B73-5215-0D72-09BF-9562E8072283}"/>
              </a:ext>
            </a:extLst>
          </p:cNvPr>
          <p:cNvSpPr/>
          <p:nvPr/>
        </p:nvSpPr>
        <p:spPr>
          <a:xfrm>
            <a:off x="3070277" y="388679"/>
            <a:ext cx="2943303" cy="62492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逻辑判断</a:t>
            </a:r>
            <a:r>
              <a:rPr lang="en-US" altLang="zh-CN" sz="1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非数据流</a:t>
            </a:r>
            <a:r>
              <a:rPr lang="en-US" altLang="zh-CN" sz="1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sz="14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流程图: 决策 29">
            <a:extLst>
              <a:ext uri="{FF2B5EF4-FFF2-40B4-BE49-F238E27FC236}">
                <a16:creationId xmlns:a16="http://schemas.microsoft.com/office/drawing/2014/main" id="{D5888411-A7E4-F6C5-ADA7-917F6D83A9E7}"/>
              </a:ext>
            </a:extLst>
          </p:cNvPr>
          <p:cNvSpPr/>
          <p:nvPr/>
        </p:nvSpPr>
        <p:spPr>
          <a:xfrm>
            <a:off x="3164061" y="1339205"/>
            <a:ext cx="2181343" cy="1014842"/>
          </a:xfrm>
          <a:prstGeom prst="flowChartDecisio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 anchorCtr="0">
            <a:noAutofit/>
          </a:bodyPr>
          <a:lstStyle/>
          <a:p>
            <a:pPr algn="ctr"/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是否在</a:t>
            </a:r>
            <a:endParaRPr lang="en-US" altLang="zh-CN" sz="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已确定告警数据向量数据库</a:t>
            </a:r>
            <a:endParaRPr lang="en-US" altLang="zh-CN" sz="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使用混合检索后取一个相似度最高</a:t>
            </a:r>
            <a:endParaRPr lang="en-US" altLang="zh-CN" sz="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的以往数据</a:t>
            </a:r>
            <a:r>
              <a:rPr lang="en-US" altLang="zh-CN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含分析</a:t>
            </a:r>
            <a:r>
              <a:rPr lang="en-US" altLang="zh-CN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处理建议</a:t>
            </a:r>
            <a:r>
              <a:rPr lang="en-US" altLang="zh-CN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ctr"/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相似度大于</a:t>
            </a:r>
            <a:r>
              <a:rPr lang="en-US" altLang="zh-CN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0.8</a:t>
            </a:r>
            <a:endParaRPr lang="zh-CN" altLang="en-US" sz="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66A51A4-5846-C779-3F0C-4FB491E2B975}"/>
              </a:ext>
            </a:extLst>
          </p:cNvPr>
          <p:cNvSpPr/>
          <p:nvPr/>
        </p:nvSpPr>
        <p:spPr>
          <a:xfrm>
            <a:off x="8719984" y="2540091"/>
            <a:ext cx="1510152" cy="4733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带风险等级字段的告警数据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60CC5136-0BFC-F184-63FA-DC01DDC5AA81}"/>
              </a:ext>
            </a:extLst>
          </p:cNvPr>
          <p:cNvSpPr/>
          <p:nvPr/>
        </p:nvSpPr>
        <p:spPr>
          <a:xfrm>
            <a:off x="8719984" y="3339269"/>
            <a:ext cx="1510152" cy="4733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告警数据的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分析报告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1D79111-2C53-AE39-1D03-5B9A328DEEDD}"/>
              </a:ext>
            </a:extLst>
          </p:cNvPr>
          <p:cNvSpPr/>
          <p:nvPr/>
        </p:nvSpPr>
        <p:spPr>
          <a:xfrm>
            <a:off x="8719984" y="4138447"/>
            <a:ext cx="1510152" cy="4733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告警处理建议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AF8BF9A5-E401-DC4B-6236-685D17E288C7}"/>
              </a:ext>
            </a:extLst>
          </p:cNvPr>
          <p:cNvCxnSpPr>
            <a:cxnSpLocks/>
            <a:stCxn id="9" idx="3"/>
            <a:endCxn id="30" idx="0"/>
          </p:cNvCxnSpPr>
          <p:nvPr/>
        </p:nvCxnSpPr>
        <p:spPr>
          <a:xfrm flipV="1">
            <a:off x="2803572" y="1339205"/>
            <a:ext cx="1451161" cy="1429535"/>
          </a:xfrm>
          <a:prstGeom prst="bentConnector4">
            <a:avLst>
              <a:gd name="adj1" fmla="val 12421"/>
              <a:gd name="adj2" fmla="val 113928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E8D9B1AC-5E7E-A820-AEDB-69069E2B1A3B}"/>
              </a:ext>
            </a:extLst>
          </p:cNvPr>
          <p:cNvSpPr/>
          <p:nvPr/>
        </p:nvSpPr>
        <p:spPr>
          <a:xfrm>
            <a:off x="4442197" y="5087845"/>
            <a:ext cx="1451161" cy="56186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从已确定告警数据</a:t>
            </a: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向量数据库中取得</a:t>
            </a: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以往的内容并复用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49B03D18-CBB6-00CC-DB82-32A6EA557AF5}"/>
              </a:ext>
            </a:extLst>
          </p:cNvPr>
          <p:cNvSpPr/>
          <p:nvPr/>
        </p:nvSpPr>
        <p:spPr>
          <a:xfrm>
            <a:off x="4442198" y="5808375"/>
            <a:ext cx="1451161" cy="56186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告警相关数据正常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走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编排层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进行分析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流程图: 决策 84">
            <a:extLst>
              <a:ext uri="{FF2B5EF4-FFF2-40B4-BE49-F238E27FC236}">
                <a16:creationId xmlns:a16="http://schemas.microsoft.com/office/drawing/2014/main" id="{A188E90B-F13F-B6B3-D169-557389375119}"/>
              </a:ext>
            </a:extLst>
          </p:cNvPr>
          <p:cNvSpPr/>
          <p:nvPr/>
        </p:nvSpPr>
        <p:spPr>
          <a:xfrm>
            <a:off x="3164059" y="3892403"/>
            <a:ext cx="2181343" cy="829202"/>
          </a:xfrm>
          <a:prstGeom prst="flowChartDecisio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 anchorCtr="0">
            <a:noAutofit/>
          </a:bodyPr>
          <a:lstStyle/>
          <a:p>
            <a:pPr algn="ctr"/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小模型</a:t>
            </a:r>
            <a:endPara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判断该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告警相关数据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ctr"/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是否可以复用</a:t>
            </a:r>
          </a:p>
        </p:txBody>
      </p: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E86AB6BF-78BF-BB0A-B2E5-13F3B4DE277F}"/>
              </a:ext>
            </a:extLst>
          </p:cNvPr>
          <p:cNvCxnSpPr>
            <a:cxnSpLocks/>
            <a:stCxn id="30" idx="3"/>
            <a:endCxn id="79" idx="0"/>
          </p:cNvCxnSpPr>
          <p:nvPr/>
        </p:nvCxnSpPr>
        <p:spPr>
          <a:xfrm flipH="1">
            <a:off x="5167778" y="1846626"/>
            <a:ext cx="177626" cy="3241219"/>
          </a:xfrm>
          <a:prstGeom prst="bentConnector4">
            <a:avLst>
              <a:gd name="adj1" fmla="val -128697"/>
              <a:gd name="adj2" fmla="val 94230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717B4245-C7A6-7A0A-29A7-3137639D63F0}"/>
              </a:ext>
            </a:extLst>
          </p:cNvPr>
          <p:cNvSpPr txBox="1"/>
          <p:nvPr/>
        </p:nvSpPr>
        <p:spPr>
          <a:xfrm>
            <a:off x="5303746" y="1541372"/>
            <a:ext cx="4169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B040B626-68B0-CE80-A59A-109C183D1542}"/>
              </a:ext>
            </a:extLst>
          </p:cNvPr>
          <p:cNvSpPr/>
          <p:nvPr/>
        </p:nvSpPr>
        <p:spPr>
          <a:xfrm>
            <a:off x="3151613" y="2567997"/>
            <a:ext cx="2206237" cy="1034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告警相关数据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ctr"/>
            <a:r>
              <a:rPr 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&amp;[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相似度</a:t>
            </a:r>
            <a:r>
              <a:rPr 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]&amp;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从已确定告警数据向量数据库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以往告警数据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]&amp;[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对应的分析报告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]&amp;[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对应的处理建议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数据输入并调用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小模型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0BA40827-E80C-D358-E65D-C6684B02C046}"/>
              </a:ext>
            </a:extLst>
          </p:cNvPr>
          <p:cNvCxnSpPr>
            <a:stCxn id="30" idx="2"/>
            <a:endCxn id="92" idx="0"/>
          </p:cNvCxnSpPr>
          <p:nvPr/>
        </p:nvCxnSpPr>
        <p:spPr>
          <a:xfrm flipH="1">
            <a:off x="4254732" y="2354047"/>
            <a:ext cx="1" cy="21395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162B855-8E88-A279-9B97-6D947158919B}"/>
              </a:ext>
            </a:extLst>
          </p:cNvPr>
          <p:cNvSpPr txBox="1"/>
          <p:nvPr/>
        </p:nvSpPr>
        <p:spPr>
          <a:xfrm>
            <a:off x="3841227" y="2312727"/>
            <a:ext cx="4169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6375C49E-B717-93F1-AD04-19924915F671}"/>
              </a:ext>
            </a:extLst>
          </p:cNvPr>
          <p:cNvCxnSpPr>
            <a:stCxn id="92" idx="2"/>
            <a:endCxn id="85" idx="0"/>
          </p:cNvCxnSpPr>
          <p:nvPr/>
        </p:nvCxnSpPr>
        <p:spPr>
          <a:xfrm flipH="1">
            <a:off x="4254731" y="3602440"/>
            <a:ext cx="1" cy="28996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E543B6C5-4C63-BDFB-07B2-B82A19ABC9C3}"/>
              </a:ext>
            </a:extLst>
          </p:cNvPr>
          <p:cNvSpPr txBox="1"/>
          <p:nvPr/>
        </p:nvSpPr>
        <p:spPr>
          <a:xfrm>
            <a:off x="3820300" y="4749958"/>
            <a:ext cx="4169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CA5F0CA4-5D0B-E719-112A-4EB81739B38F}"/>
              </a:ext>
            </a:extLst>
          </p:cNvPr>
          <p:cNvCxnSpPr>
            <a:stCxn id="85" idx="2"/>
            <a:endCxn id="83" idx="1"/>
          </p:cNvCxnSpPr>
          <p:nvPr/>
        </p:nvCxnSpPr>
        <p:spPr>
          <a:xfrm rot="16200000" flipH="1">
            <a:off x="3664613" y="5311722"/>
            <a:ext cx="1367703" cy="18746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连接符: 肘形 111">
            <a:extLst>
              <a:ext uri="{FF2B5EF4-FFF2-40B4-BE49-F238E27FC236}">
                <a16:creationId xmlns:a16="http://schemas.microsoft.com/office/drawing/2014/main" id="{F794D33D-C4DE-D7A2-251B-BD58C5E2839B}"/>
              </a:ext>
            </a:extLst>
          </p:cNvPr>
          <p:cNvCxnSpPr>
            <a:cxnSpLocks/>
            <a:stCxn id="85" idx="3"/>
            <a:endCxn id="79" idx="0"/>
          </p:cNvCxnSpPr>
          <p:nvPr/>
        </p:nvCxnSpPr>
        <p:spPr>
          <a:xfrm flipH="1">
            <a:off x="5167778" y="4307004"/>
            <a:ext cx="177624" cy="780841"/>
          </a:xfrm>
          <a:prstGeom prst="bentConnector4">
            <a:avLst>
              <a:gd name="adj1" fmla="val -128699"/>
              <a:gd name="adj2" fmla="val 76548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824FD84-2B4E-7DF2-1BF5-8C80EA5F5211}"/>
              </a:ext>
            </a:extLst>
          </p:cNvPr>
          <p:cNvSpPr txBox="1"/>
          <p:nvPr/>
        </p:nvSpPr>
        <p:spPr>
          <a:xfrm>
            <a:off x="5256387" y="4014713"/>
            <a:ext cx="4169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endParaRPr 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456E8B6-DA33-B212-90C2-B5D738B9EEB8}"/>
              </a:ext>
            </a:extLst>
          </p:cNvPr>
          <p:cNvSpPr/>
          <p:nvPr/>
        </p:nvSpPr>
        <p:spPr>
          <a:xfrm>
            <a:off x="6154899" y="88567"/>
            <a:ext cx="2291690" cy="66437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用户权限分组层</a:t>
            </a:r>
            <a:endParaRPr lang="en-US" sz="1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3" name="连接符: 肘形 122">
            <a:extLst>
              <a:ext uri="{FF2B5EF4-FFF2-40B4-BE49-F238E27FC236}">
                <a16:creationId xmlns:a16="http://schemas.microsoft.com/office/drawing/2014/main" id="{E621D2E8-31FD-7669-247F-04C65A09373D}"/>
              </a:ext>
            </a:extLst>
          </p:cNvPr>
          <p:cNvCxnSpPr>
            <a:stCxn id="79" idx="3"/>
            <a:endCxn id="51" idx="2"/>
          </p:cNvCxnSpPr>
          <p:nvPr/>
        </p:nvCxnSpPr>
        <p:spPr>
          <a:xfrm flipV="1">
            <a:off x="5893358" y="3812637"/>
            <a:ext cx="5398824" cy="155614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连接符: 肘形 124">
            <a:extLst>
              <a:ext uri="{FF2B5EF4-FFF2-40B4-BE49-F238E27FC236}">
                <a16:creationId xmlns:a16="http://schemas.microsoft.com/office/drawing/2014/main" id="{7D35136F-C5F5-DCD8-F600-2C8564AFF67A}"/>
              </a:ext>
            </a:extLst>
          </p:cNvPr>
          <p:cNvCxnSpPr>
            <a:stCxn id="79" idx="3"/>
            <a:endCxn id="49" idx="0"/>
          </p:cNvCxnSpPr>
          <p:nvPr/>
        </p:nvCxnSpPr>
        <p:spPr>
          <a:xfrm flipV="1">
            <a:off x="5893358" y="2540091"/>
            <a:ext cx="5398824" cy="2828687"/>
          </a:xfrm>
          <a:prstGeom prst="bentConnector4">
            <a:avLst>
              <a:gd name="adj1" fmla="val 114944"/>
              <a:gd name="adj2" fmla="val 108081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连接符: 肘形 128">
            <a:extLst>
              <a:ext uri="{FF2B5EF4-FFF2-40B4-BE49-F238E27FC236}">
                <a16:creationId xmlns:a16="http://schemas.microsoft.com/office/drawing/2014/main" id="{909615D5-DD8C-B84E-CD94-FAD5EC90EA69}"/>
              </a:ext>
            </a:extLst>
          </p:cNvPr>
          <p:cNvCxnSpPr>
            <a:stCxn id="83" idx="3"/>
            <a:endCxn id="11" idx="1"/>
          </p:cNvCxnSpPr>
          <p:nvPr/>
        </p:nvCxnSpPr>
        <p:spPr>
          <a:xfrm flipV="1">
            <a:off x="5893359" y="2776775"/>
            <a:ext cx="2826625" cy="3312533"/>
          </a:xfrm>
          <a:prstGeom prst="bentConnector3">
            <a:avLst>
              <a:gd name="adj1" fmla="val 8652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连接符: 肘形 130">
            <a:extLst>
              <a:ext uri="{FF2B5EF4-FFF2-40B4-BE49-F238E27FC236}">
                <a16:creationId xmlns:a16="http://schemas.microsoft.com/office/drawing/2014/main" id="{2420BA9E-70C9-566F-B2B7-2BB500DDC192}"/>
              </a:ext>
            </a:extLst>
          </p:cNvPr>
          <p:cNvCxnSpPr>
            <a:endCxn id="41" idx="1"/>
          </p:cNvCxnSpPr>
          <p:nvPr/>
        </p:nvCxnSpPr>
        <p:spPr>
          <a:xfrm flipV="1">
            <a:off x="5893358" y="3575953"/>
            <a:ext cx="2826626" cy="2513354"/>
          </a:xfrm>
          <a:prstGeom prst="bentConnector3">
            <a:avLst>
              <a:gd name="adj1" fmla="val 8652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B33AF7D4-262A-4F62-4C94-1468B80BEA30}"/>
              </a:ext>
            </a:extLst>
          </p:cNvPr>
          <p:cNvCxnSpPr>
            <a:stCxn id="83" idx="3"/>
            <a:endCxn id="26" idx="1"/>
          </p:cNvCxnSpPr>
          <p:nvPr/>
        </p:nvCxnSpPr>
        <p:spPr>
          <a:xfrm flipV="1">
            <a:off x="5893359" y="4375131"/>
            <a:ext cx="2826625" cy="1714177"/>
          </a:xfrm>
          <a:prstGeom prst="bentConnector3">
            <a:avLst>
              <a:gd name="adj1" fmla="val 8652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6A8D1085-8C3D-A4F4-FC92-A28447D7D375}"/>
              </a:ext>
            </a:extLst>
          </p:cNvPr>
          <p:cNvSpPr/>
          <p:nvPr/>
        </p:nvSpPr>
        <p:spPr>
          <a:xfrm>
            <a:off x="6216129" y="388680"/>
            <a:ext cx="2075784" cy="485191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权限分组初步想法：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.splunk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cookie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里有用户信息，可以复用我们做的带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cookie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的身份认证功能，获得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</a:p>
          <a:p>
            <a:r>
              <a:rPr 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.splunk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的权限分组是这样的：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登录右上角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setting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roles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→里面各种角色以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test_stm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为例→点开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test_stm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里面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4.limit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→右侧过滤器里有筛选规则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【(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sourcetype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::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stm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)】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接下来是详细解释：每个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用户有一个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role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角色，角色里有这个限制筛选规则。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Sourcetype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对数据的一个分类标签，它告诉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Splunk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这份数据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是什么格式、应该怎么解析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。也就是说每个用户只能看到他被规定的数据标签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sourcetype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可以在告警数据导出脚本里加上每个权限组的唯一标记，在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层编入识别逻辑来做用户权限分组，让每组用户只看到筛选规则规定他能看的告警数据报告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8993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DC46C-7002-0D3C-A30C-542D8AB5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598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7E041-CAA9-9BFB-F979-4DD226EC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49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F89CF-28FE-9E8B-73AA-46EEE87D0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08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2562</TotalTime>
  <Words>731</Words>
  <Application>Microsoft Office PowerPoint</Application>
  <PresentationFormat>宽屏</PresentationFormat>
  <Paragraphs>75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微软雅黑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Jiehao Zheng (JHGZ)</dc:creator>
  <cp:lastModifiedBy>Jiehao Zheng (JHGZ)</cp:lastModifiedBy>
  <cp:revision>45</cp:revision>
  <dcterms:created xsi:type="dcterms:W3CDTF">2026-07-03T05:25:37Z</dcterms:created>
  <dcterms:modified xsi:type="dcterms:W3CDTF">2026-07-30T06:46:22Z</dcterms:modified>
</cp:coreProperties>
</file>